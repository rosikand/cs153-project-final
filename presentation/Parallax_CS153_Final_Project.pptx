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5ba1c90134bab" /><Relationship Type="http://schemas.openxmlformats.org/officeDocument/2006/relationships/extended-properties" Target="/docProps/app.xml" Id="Rec7959dfb10346fb" /><Relationship Type="http://schemas.openxmlformats.org/officeDocument/2006/relationships/officeDocument" Target="/ppt/presentation.xml" Id="R0e57d381cf34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d7136374354fb3"/>
  </p:sldMasterIdLst>
  <p:notesMasterIdLst>
    <p:notesMasterId xmlns:r="http://schemas.openxmlformats.org/officeDocument/2006/relationships" r:id="Rc2051b7ae02c4363"/>
  </p:notesMasterIdLst>
  <p:sldIdLst>
    <p:sldId xmlns:r="http://schemas.openxmlformats.org/officeDocument/2006/relationships" id="256" r:id="Recf0faa149104910"/>
    <p:sldId xmlns:r="http://schemas.openxmlformats.org/officeDocument/2006/relationships" id="257" r:id="Rac378ed7cf3b4e23"/>
    <p:sldId xmlns:r="http://schemas.openxmlformats.org/officeDocument/2006/relationships" id="258" r:id="Rd56b6355109e4c1d"/>
    <p:sldId xmlns:r="http://schemas.openxmlformats.org/officeDocument/2006/relationships" id="259" r:id="R294f325bc4064edd"/>
    <p:sldId xmlns:r="http://schemas.openxmlformats.org/officeDocument/2006/relationships" id="260" r:id="R3108292d7a3f459c"/>
    <p:sldId xmlns:r="http://schemas.openxmlformats.org/officeDocument/2006/relationships" id="261" r:id="R1acd97fb79334875"/>
    <p:sldId xmlns:r="http://schemas.openxmlformats.org/officeDocument/2006/relationships" id="262" r:id="Re183bbb4875d447a"/>
    <p:sldId xmlns:r="http://schemas.openxmlformats.org/officeDocument/2006/relationships" id="263" r:id="Rdef6f77606104b35"/>
    <p:sldId xmlns:r="http://schemas.openxmlformats.org/officeDocument/2006/relationships" id="264" r:id="R7339bb307cb24b62"/>
    <p:sldId xmlns:r="http://schemas.openxmlformats.org/officeDocument/2006/relationships" id="265" r:id="R44c9fe7f2c3d4a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8b1bd0c314253" /><Relationship Type="http://schemas.openxmlformats.org/officeDocument/2006/relationships/slideMaster" Target="/ppt/slideMasters/slideMaster1.xml" Id="R51d7136374354fb3" /><Relationship Type="http://schemas.openxmlformats.org/officeDocument/2006/relationships/notesMaster" Target="/ppt/notesMasters/notesMaster1.xml" Id="Rc2051b7ae02c4363" /><Relationship Type="http://schemas.openxmlformats.org/officeDocument/2006/relationships/presProps" Target="/ppt/presProps.xml" Id="R702caf604b85405f" /><Relationship Type="http://schemas.openxmlformats.org/officeDocument/2006/relationships/viewProps" Target="/ppt/viewProps.xml" Id="R42c6dc0e42174b40" /><Relationship Type="http://schemas.openxmlformats.org/officeDocument/2006/relationships/tableStyles" Target="/ppt/tableStyles.xml" Id="R39d45d34bca7476c" /><Relationship Type="http://schemas.openxmlformats.org/officeDocument/2006/relationships/slide" Target="/ppt/slides/slide1.xml" Id="Recf0faa149104910" /><Relationship Type="http://schemas.openxmlformats.org/officeDocument/2006/relationships/slide" Target="/ppt/slides/slide2.xml" Id="Rac378ed7cf3b4e23" /><Relationship Type="http://schemas.openxmlformats.org/officeDocument/2006/relationships/slide" Target="/ppt/slides/slide3.xml" Id="Rd56b6355109e4c1d" /><Relationship Type="http://schemas.openxmlformats.org/officeDocument/2006/relationships/slide" Target="/ppt/slides/slide4.xml" Id="R294f325bc4064edd" /><Relationship Type="http://schemas.openxmlformats.org/officeDocument/2006/relationships/slide" Target="/ppt/slides/slide5.xml" Id="R3108292d7a3f459c" /><Relationship Type="http://schemas.openxmlformats.org/officeDocument/2006/relationships/slide" Target="/ppt/slides/slide6.xml" Id="R1acd97fb79334875" /><Relationship Type="http://schemas.openxmlformats.org/officeDocument/2006/relationships/slide" Target="/ppt/slides/slide7.xml" Id="Re183bbb4875d447a" /><Relationship Type="http://schemas.openxmlformats.org/officeDocument/2006/relationships/slide" Target="/ppt/slides/slide8.xml" Id="Rdef6f77606104b35" /><Relationship Type="http://schemas.openxmlformats.org/officeDocument/2006/relationships/slide" Target="/ppt/slides/slide9.xml" Id="R7339bb307cb24b62" /><Relationship Type="http://schemas.openxmlformats.org/officeDocument/2006/relationships/slide" Target="/ppt/slides/slide10.xml" Id="R44c9fe7f2c3d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b0dc0ce667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e2c91c3d34457b" /><Relationship Type="http://schemas.openxmlformats.org/officeDocument/2006/relationships/notesMaster" Target="/ppt/notesMasters/notesMaster1.xml" Id="R354d552f6878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95ae547bb42e6" /><Relationship Type="http://schemas.openxmlformats.org/officeDocument/2006/relationships/notesMaster" Target="/ppt/notesMasters/notesMaster1.xml" Id="R84770419ccfa46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f24b2f29ce4ed2" /><Relationship Type="http://schemas.openxmlformats.org/officeDocument/2006/relationships/notesMaster" Target="/ppt/notesMasters/notesMaster1.xml" Id="Rb6bc6703891c42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d1f72565dd4701" /><Relationship Type="http://schemas.openxmlformats.org/officeDocument/2006/relationships/notesMaster" Target="/ppt/notesMasters/notesMaster1.xml" Id="R9dad6c5abe46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7b827f67ac4861" /><Relationship Type="http://schemas.openxmlformats.org/officeDocument/2006/relationships/notesMaster" Target="/ppt/notesMasters/notesMaster1.xml" Id="R64e964d90643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dd3536f274399" /><Relationship Type="http://schemas.openxmlformats.org/officeDocument/2006/relationships/notesMaster" Target="/ppt/notesMasters/notesMaster1.xml" Id="R42c61e8105a44f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67264c39ff4690" /><Relationship Type="http://schemas.openxmlformats.org/officeDocument/2006/relationships/notesMaster" Target="/ppt/notesMasters/notesMaster1.xml" Id="R6c9ba4b321ba45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ed55aac6cd4511" /><Relationship Type="http://schemas.openxmlformats.org/officeDocument/2006/relationships/notesMaster" Target="/ppt/notesMasters/notesMaster1.xml" Id="Rf50176607c0d4a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0eac4dced64917" /><Relationship Type="http://schemas.openxmlformats.org/officeDocument/2006/relationships/notesMaster" Target="/ppt/notesMasters/notesMaster1.xml" Id="Rabc2167d3b814f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47260a33104909" /><Relationship Type="http://schemas.openxmlformats.org/officeDocument/2006/relationships/notesMaster" Target="/ppt/notesMasters/notesMaster1.xml" Id="Refd1355636ef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dec3cc93a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9b32a75902435a" /><Relationship Type="http://schemas.openxmlformats.org/officeDocument/2006/relationships/slideLayout" Target="/ppt/slideLayouts/slideLayout1.xml" Id="Rd242b0acff094b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2b0acff094b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d0efd9dd94f69" /><Relationship Type="http://schemas.openxmlformats.org/officeDocument/2006/relationships/image" Target="/ppt/media/image.jpeg" Id="R4fda8aa3276d4b09" /><Relationship Type="http://schemas.openxmlformats.org/officeDocument/2006/relationships/notesSlide" Target="/ppt/notesSlides/notesSlide1.xml" Id="R5218111a3568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4246d38c640ce" /><Relationship Type="http://schemas.openxmlformats.org/officeDocument/2006/relationships/notesSlide" Target="/ppt/notesSlides/notesSlide2.xml" Id="R95c9ba745eb64c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66c320f9b439b" /><Relationship Type="http://schemas.openxmlformats.org/officeDocument/2006/relationships/image" Target="/ppt/media/image2.jpeg" Id="R4fb1043ee79a4867" /><Relationship Type="http://schemas.openxmlformats.org/officeDocument/2006/relationships/notesSlide" Target="/ppt/notesSlides/notesSlide3.xml" Id="R08aa478427194d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667d77ea04565" /><Relationship Type="http://schemas.openxmlformats.org/officeDocument/2006/relationships/notesSlide" Target="/ppt/notesSlides/notesSlide4.xml" Id="R8c722f4dc39e4f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aa11311bf4c5f" /><Relationship Type="http://schemas.openxmlformats.org/officeDocument/2006/relationships/notesSlide" Target="/ppt/notesSlides/notesSlide5.xml" Id="Rb4a4763b80c3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a7fcd3ece45c5" /><Relationship Type="http://schemas.openxmlformats.org/officeDocument/2006/relationships/notesSlide" Target="/ppt/notesSlides/notesSlide6.xml" Id="R5a874bffeddb4d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85641871744f5" /><Relationship Type="http://schemas.openxmlformats.org/officeDocument/2006/relationships/image" Target="/ppt/media/image3.jpeg" Id="R01d57c0433bf4ed4" /><Relationship Type="http://schemas.openxmlformats.org/officeDocument/2006/relationships/notesSlide" Target="/ppt/notesSlides/notesSlide7.xml" Id="R8e41d25037bd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7d230b35b49b4" /><Relationship Type="http://schemas.openxmlformats.org/officeDocument/2006/relationships/notesSlide" Target="/ppt/notesSlides/notesSlide8.xml" Id="R8e2dd2eb9dc34d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821418ecd4f5d" /><Relationship Type="http://schemas.openxmlformats.org/officeDocument/2006/relationships/notesSlide" Target="/ppt/notesSlides/notesSlide9.xml" Id="R503064578b6948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c4a280cbc4f24" /><Relationship Type="http://schemas.openxmlformats.org/officeDocument/2006/relationships/notesSlide" Target="/ppt/notesSlides/notesSlide10.xml" Id="R4d35621c1b0444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72BE1C-4CBF-4DF9-AD8C-0EBB11F5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0F"/>
          </a:solidFill>
          <a:ln xmlns:a="http://schemas.openxmlformats.org/drawingml/2006/main" w="0">
            <a:solidFill>
              <a:srgbClr val="07130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a8aa3276d4b09"/>
          <a:srcRect xmlns:a="http://schemas.openxmlformats.org/drawingml/2006/main" l="19722" t="0" r="19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FDB3C-9F80-400C-ADEA-41E5AB8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0F"/>
          </a:solidFill>
          <a:ln xmlns:a="http://schemas.openxmlformats.org/drawingml/2006/main" w="0">
            <a:solidFill>
              <a:srgbClr val="07130F"/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8FC2EE71-2137-4E38-A354-35C80BD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72"/>
          </a:solidFill>
          <a:ln xmlns:a="http://schemas.openxmlformats.org/drawingml/2006/main" w="0">
            <a:solidFill>
              <a:srgbClr val="B9FF72"/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614E6201-C61F-4F0A-82EF-35027303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rPr>
              <a:t>CS 153 · FRONTIER SYSTEMS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5BEA320-44D0-4EDF-B8A0-A2221CA5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42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Parallax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E63FF07C-2517-48EF-A988-D3EA04F7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B7A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A7B7AE"/>
                </a:solidFill>
                <a:latin typeface="Aptos Display"/>
                <a:ea typeface="Aptos Display"/>
                <a:cs typeface="Aptos Display"/>
              </a:rPr>
              <a:t>Agentic satellite query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E37E0-BE7F-4797-9BF8-8BB2525F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51911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D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4DDD7"/>
                </a:solidFill>
                <a:latin typeface="Aptos"/>
                <a:ea typeface="Aptos"/>
                <a:cs typeface="Aptos"/>
              </a:rPr>
              <a:t>Ask a question about any place. Acquire dated Earth evidence. Inspect exactly what the model saw.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69E45-31C7-4A0E-8A65-4FDCA56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26"/>
          </a:solidFill>
          <a:ln xmlns:a="http://schemas.openxmlformats.org/drawingml/2006/main" w="0">
            <a:solidFill>
              <a:srgbClr val="163126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NATURAL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11E95-D2B1-4966-972B-A4CD3C70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962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26"/>
          </a:solidFill>
          <a:ln xmlns:a="http://schemas.openxmlformats.org/drawingml/2006/main" w="0">
            <a:solidFill>
              <a:srgbClr val="163126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NASA IMAGERY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466C6-8D57-40E2-BF9C-80AB22A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19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26"/>
          </a:solidFill>
          <a:ln xmlns:a="http://schemas.openxmlformats.org/drawingml/2006/main" w="0">
            <a:solidFill>
              <a:srgbClr val="163126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VISIBLE AGENT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C381C-D415-472A-A5EB-F46A7A5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1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FA198"/>
                </a:solidFill>
                <a:latin typeface="Aptos"/>
                <a:ea typeface="Aptos"/>
                <a:cs typeface="Aptos"/>
              </a:rPr>
              <a:t>One-person frontier lab project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0EE4208-C807-4FEF-AF7F-9E85173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19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99"/>
                </a:solidFill>
                <a:latin typeface="Aptos"/>
                <a:ea typeface="Aptos"/>
                <a:cs typeface="Aptos"/>
              </a:rPr>
              <a:t>NASA Terra/MODIS scene from a saved Parallax investigation · June 4, 2026</a:t>
            </a:r>
          </a:p>
        </p:txBody>
      </p:sp>
      <p:sp>
        <p:nvSpPr>
          <p:cNvPr id="1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45D3105-A177-45F5-A57C-688F77B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60440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2271DAA-AC40-41F0-A0FC-822A6815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0"/>
          </a:solidFill>
          <a:ln xmlns:a="http://schemas.openxmlformats.org/drawingml/2006/main" w="0">
            <a:solidFill>
              <a:srgbClr val="F4F6F0"/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14D4CFA-58DE-4659-B638-8DB5BED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B8D08EDA-940B-4243-8A08-6AC7BD3C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PROBLEM &amp; INSIGHT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B294D99-27BD-44F4-9F5F-6E43CB58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The bottleneck is assembling trustworthy evidence, not asking the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6AA04-CCF0-4B8E-94A8-98074A4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Traditional Earth-observation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94541-7110-4AA2-A52B-B60C856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DAC3A-7377-48F0-B2BC-11C95F91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3845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BF737-A8A7-4E89-B80A-3A274A3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860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Choose a sensor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86D1C-C3FF-4319-84FA-CEF2C1ED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AC810-40BD-46D2-95CF-AD983DE5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2422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81CDA-097F-4C6D-B21F-B178B6C1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7182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Find a 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A63A-EE9F-4379-8F8F-BABCCEA3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C993A-B050-451D-930F-B066641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1000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6EDE4-C199-44AE-AC33-BAF8CDD7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576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Resolve coordinates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5CB7A-B861-4AE6-818D-3F694077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29F0D-54D1-4D3B-A172-9B190D2C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957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03CFE-309E-483E-BBD3-05D63D0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4337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Select a 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E5526-CF12-4311-A395-A1B404F5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7811F-32AB-4A45-89E6-16247B7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6D07D-E8F6-4ECD-B527-07EE7446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291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Join hazard + weather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A095E-B35E-4EF3-835D-03358AE3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4A57D-B27A-4738-9813-FC6E6C0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6732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E751D-A113-4980-9D32-CBE3124F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1492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Interpret 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01D1B-333A-4A9C-94C9-7B511D5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4790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1B9F2-B762-4D43-8FD5-D372FE50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Parallax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87C766-AC63-42DD-A621-8FD53E0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“Are there active wildfires near Los Angeles?”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A25E9-3A8F-498B-BE71-7E46E0E5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D88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7D887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1FBBA-3D81-4579-BF45-FA00016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1762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9"/>
          </a:solidFill>
          <a:ln xmlns:a="http://schemas.openxmlformats.org/drawingml/2006/main" w="0">
            <a:solidFill>
              <a:srgbClr val="142019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7FAF7"/>
                </a:solidFill>
                <a:latin typeface="Aptos Mono"/>
                <a:ea typeface="Aptos Mono"/>
                <a:cs typeface="Aptos Mono"/>
              </a:rPr>
              <a:t>ONE AGENT 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74120-885B-4412-B4E1-28AE1B9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673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Observation plan + dated image + public evidence + confidence + sources + report</a:t>
            </a:r>
          </a:p>
        </p:txBody>
      </p:sp>
      <p:sp>
        <p:nvSpPr>
          <p:cNvPr id="3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CFE233B-5583-4EFE-BC1A-3AD34F83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Course rubric: meaningful problem, compelling motivation, original and ambitious approach</a:t>
            </a:r>
          </a:p>
        </p:txBody>
      </p:sp>
      <p:sp>
        <p:nvSpPr>
          <p:cNvPr id="3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D338DBB-F60C-4AB3-99FC-551C4776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39235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57A8E05-BBD4-4167-8EB0-34B6CD0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0F"/>
          </a:solidFill>
          <a:ln xmlns:a="http://schemas.openxmlformats.org/drawingml/2006/main" w="0">
            <a:solidFill>
              <a:srgbClr val="07130F"/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1C554B5A-523F-4BE3-A8CD-D49F906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72"/>
          </a:solidFill>
          <a:ln xmlns:a="http://schemas.openxmlformats.org/drawingml/2006/main" w="0">
            <a:solidFill>
              <a:srgbClr val="B9FF72"/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43B72D1-1DDD-494E-9ABF-A287BAA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rPr>
              <a:t>PRODUCT PROOF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0D4CAFF-BA01-4531-B424-E27579AC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One prompt becomes a dated, inspectable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84D62-ACB4-4D3D-8308-2D09B348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572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19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1043ee79a4867"/>
          <a:srcRect xmlns:a="http://schemas.openxmlformats.org/drawingml/2006/main" l="0" t="19222" r="0" b="19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228850"/>
            <a:ext cx="6305550" cy="3105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D573F-DF8B-4C87-BB39-A8E756C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3476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8"/>
          </a:solidFill>
          <a:ln xmlns:a="http://schemas.openxmlformats.org/drawingml/2006/main" w="0">
            <a:solidFill>
              <a:srgbClr val="173128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TERRA / MODIS · JUNE 4, 2026 · 1 DAY 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7DBF0-3203-40BD-A802-F899A9F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4105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1B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BE840-CE0F-4432-9FB0-3D3889A2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33625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30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07130F"/>
                </a:solidFill>
                <a:latin typeface="Aptos Mono"/>
                <a:ea typeface="Aptos Mono"/>
                <a:cs typeface="Aptos Mono"/>
              </a:rPr>
              <a:t>AI AGENT + 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7252A-D7E4-4A73-B0CB-8C2FF8CC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57500"/>
            <a:ext cx="342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No clear active wildfire signal visible near Los Angeles in this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CA3EC-70CC-4160-A66A-977F2A53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957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rPr>
              <a:t>41%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58936-120B-48AD-A6F3-42719007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7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7AE"/>
                </a:solidFill>
                <a:latin typeface="Aptos"/>
                <a:ea typeface="Aptos"/>
                <a:cs typeface="Aptos"/>
              </a:rPr>
              <a:t>evidence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02A68-CAC8-4A69-A8C8-9716D7E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958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6D1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6D1CB"/>
                </a:solidFill>
                <a:latin typeface="Aptos"/>
                <a:ea typeface="Aptos"/>
                <a:cs typeface="Aptos"/>
              </a:rPr>
              <a:t>Thick cloud cover limits detection. No obvious plume is visible, but an active fire cannot be ruled out.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8B994C6-C172-41D2-8619-507C1E1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19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99"/>
                </a:solidFill>
                <a:latin typeface="Aptos"/>
                <a:ea typeface="Aptos"/>
                <a:cs typeface="Aptos"/>
              </a:rPr>
              <a:t>Real saved query · exact image, sensor, date, model mode, confidence, caveats, and sources persisted</a:t>
            </a:r>
          </a:p>
        </p:txBody>
      </p:sp>
      <p:sp>
        <p:nvSpPr>
          <p:cNvPr id="1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3914A2A-9A31-407B-BF5B-2FEA443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2774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17F6C0-6EE2-4653-BE99-18250AD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0"/>
          </a:solidFill>
          <a:ln xmlns:a="http://schemas.openxmlformats.org/drawingml/2006/main" w="0">
            <a:solidFill>
              <a:srgbClr val="F4F6F0"/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3596C91-E2C9-436A-B5AF-B46A9F01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2D9F634-2DF3-4C95-9FC3-6244D502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AGENT SYSTEM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7917530-2CC7-43A2-A0B8-AD3F9F32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The system is agentic because the model chooses a bounded observation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4BA56-5F3D-4EE4-A04B-6864FF3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The model operates inside typed contracts; tools and deterministic fallbacks constrain every 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DB981-E1A2-4C3A-86F0-91CD99E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81D06-7DA1-4421-9860-F5F14A04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2D4C7-F6D0-43F5-926A-C5FE5A7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CF83C-7C8A-49F0-B2BA-7E9A41A1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99DAF-AD44-4EC3-AF3E-ADAF05E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place · intent · radius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E80A2-7628-4EFB-9441-0FAF3D02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670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48245-F82E-4C6C-A16B-F277D160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6225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3DD1C-7789-4051-81AF-F6BA6F88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14248-ED44-4124-841A-6C501E40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95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LOCATE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EE923-FC86-4A67-AE9F-14DCC671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86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FF"/>
          </a:solidFill>
          <a:ln xmlns:a="http://schemas.openxmlformats.org/drawingml/2006/main" w="0">
            <a:solidFill>
              <a:srgbClr val="76B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889BF-EBAC-4088-B351-C96D79D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814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WGS84 coordinates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9FB41-A5DC-4DE7-85EA-4397851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55181-756C-4794-A7C5-081DEA6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D08BC-A5C7-4BA6-8CC1-5C30F97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632FD-9CB1-4695-B9AB-B8626F7C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SELECT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48A88-1B69-4995-B657-ED410B55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86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B1B81-91CC-4B81-A0C7-13891D8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814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sensor · date ·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0555A-AB0E-4A58-9D80-6F20B34A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670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71738-2E18-4817-8B58-DECD31F4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0A4F4-5118-41A4-826B-B9CE4346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A21A2-B8FD-417F-93C9-AC0719E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GATHER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CA5C3-A9DA-4C97-97A0-785E52F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86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31DC9-4E0B-4550-9C3B-CD8E893A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814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weather · events · seismic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CAE5D4-48AF-4283-923D-3FA8BFF2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670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F09C6-F6F7-4599-8F9B-E124AF96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9B269-AFDF-43F8-B82C-2B352A80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0EFD09-C37E-4CE3-8FAA-EB75E98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ANALYZE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E9A1C-CB27-4305-B869-33ED4DB2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86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FF"/>
          </a:solidFill>
          <a:ln xmlns:a="http://schemas.openxmlformats.org/drawingml/2006/main" w="0">
            <a:solidFill>
              <a:srgbClr val="76B8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CE65AA-2DD3-40FE-9566-0A911C87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image + structured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B5F005-901B-410D-BBD3-50E6784A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670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8746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09FC7B-BCE3-4A19-8EC0-5F3B65D5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657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B19F7-0081-498B-BD44-9777B87A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FC687-F372-4B0C-A00E-D2BA6318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95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PRESERVE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2BFA3-EBB3-4059-9ADA-FC1C02A6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86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61377-7F7C-4C88-A645-40F78F6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8142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trace · Markdown · PDF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669AEC-BB43-45AD-ADF0-128BAF1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9"/>
          </a:solidFill>
          <a:ln xmlns:a="http://schemas.openxmlformats.org/drawingml/2006/main" w="0">
            <a:solidFill>
              <a:srgbClr val="142019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7FAF7"/>
                </a:solidFill>
                <a:latin typeface="Aptos Mono"/>
                <a:ea typeface="Aptos Mono"/>
                <a:cs typeface="Aptos Mono"/>
              </a:rPr>
              <a:t>MODEL DECISIONS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F2A4EE-7756-4F01-B6AF-ED27CDFE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625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planning · visual synthesis · report drafting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4EE3C4-0748-4C8B-99F1-FF2AF5F1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3"/>
          </a:solidFill>
          <a:ln xmlns:a="http://schemas.openxmlformats.org/drawingml/2006/main" w="0">
            <a:solidFill>
              <a:srgbClr val="DDF4E3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DETERMINISTIC CONTROL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D73E8D-A546-430D-AFE5-27493AA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67325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19"/>
                </a:solidFill>
                <a:latin typeface="Aptos"/>
                <a:ea typeface="Aptos"/>
                <a:cs typeface="Aptos"/>
              </a:rPr>
              <a:t>geocoding · API bounds · quality thresholds · persistence · fallback</a:t>
            </a:r>
          </a:p>
        </p:txBody>
      </p:sp>
      <p:sp>
        <p:nvSpPr>
          <p:cNvPr id="4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39FE2B1-6DAF-4F8E-8C0B-6F2A71EF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No fine-tuning: model intelligence is composed with query-specific evidence at inference time</a:t>
            </a:r>
          </a:p>
        </p:txBody>
      </p:sp>
      <p:sp>
        <p:nvSpPr>
          <p:cNvPr id="4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C2DDA0C-5C0C-4247-B292-90834DC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71142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83FFA33-E07E-4ADB-82FD-4C670418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0F"/>
          </a:solidFill>
          <a:ln xmlns:a="http://schemas.openxmlformats.org/drawingml/2006/main" w="0">
            <a:solidFill>
              <a:srgbClr val="07130F"/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424F3530-8E17-4254-8E1F-9B8BBF30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72"/>
          </a:solidFill>
          <a:ln xmlns:a="http://schemas.openxmlformats.org/drawingml/2006/main" w="0">
            <a:solidFill>
              <a:srgbClr val="B9FF72"/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5843AB6D-ABE6-45CA-8F67-500BE26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D7F990B-EA2A-4A8A-B4E4-5DB1567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The Express orchestrator controls tools, secrets, and failure handling.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2F62E-340B-448A-BC2F-154588C5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76B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47B5D-415D-4FA4-AE87-B005CDF3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React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BF6D-0235-4524-AEFC-B935A73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query · map · trace ·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90798-C732-4D39-8005-43BA347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718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7D88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D8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309B1-3E00-458C-81C5-3C71D1F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19350"/>
            <a:ext cx="2705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B9FF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A8C8F-063A-41A3-B1DD-B4054992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71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Express agent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3656F-4A59-485F-A989-7312C4F6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57500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plan · orchestrate · normalize · persist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AA798-3269-4BCD-980A-E5E14A2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7D88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D8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25A1D-FD29-4533-9B63-9E04D91B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38425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76B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10E6D-1308-4525-A450-5AF7FFF9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9082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OpenAI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1C891-BB81-4EE8-8E9E-F27DC936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765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planner · vision analyst · research writer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27C66-9408-42E9-99D3-EE4AB3DE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76725"/>
            <a:ext cx="535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29"/>
          </a:solidFill>
          <a:ln xmlns:a="http://schemas.openxmlformats.org/drawingml/2006/main" w="0">
            <a:solidFill>
              <a:srgbClr val="173229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PARALLEL EVIDENCE ACQUISITION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BC929-0C5E-4D3F-BEB2-603016F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AAE8E-CF1F-40D4-B182-814551D3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NASA GIBS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7EAAF-B2B1-4BF2-A565-0A4C603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2006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imagery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611D6-B661-438A-ABD2-764E4006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625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E438E-6189-4AA3-9146-AA8A7687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Open-Meteo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B3575-B2C5-4878-A058-419ADDE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006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weather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B9E81-2E11-4D65-B685-2F0FF13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7625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2A27C-EF7A-40E1-A69E-BB5F7E6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EONET + FIRMS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3D636-BAE2-40C1-8BDD-06E7691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2006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hazards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F6B75-0AB5-43B6-ADB1-8443918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625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36E28-17FE-45E4-BE9A-A9E928F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USGS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BCD8D-1718-436B-942C-BA45075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00650"/>
            <a:ext cx="933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seismic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4AABC-5D4E-4D6B-81E8-D3EC9620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38425"/>
            <a:ext cx="25622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F1A4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2E833-15C6-4D1C-8DEC-0504611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90825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Investigation store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9C7213-720C-4BDF-87B3-331B8FAE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76575"/>
            <a:ext cx="2295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B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A5"/>
                </a:solidFill>
                <a:latin typeface="Aptos"/>
                <a:ea typeface="Aptos"/>
                <a:cs typeface="Aptos"/>
              </a:rPr>
              <a:t>query JSON · image · Markdown · PDF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4E2C4-B88F-44BD-9B77-D47922E8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7180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A4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1A45B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DE8FE-9D3B-4E50-B8E0-48E2FFF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7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7B0"/>
                </a:solidFill>
                <a:latin typeface="Aptos"/>
                <a:ea typeface="Aptos"/>
                <a:cs typeface="Aptos"/>
              </a:rPr>
              <a:t>Provider calls use timeouts and Promise.allSettled, so one failed feed does not erase the entire observation.</a:t>
            </a:r>
          </a:p>
        </p:txBody>
      </p:sp>
      <p:sp>
        <p:nvSpPr>
          <p:cNvPr id="3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BFC9FC1-38B4-4C90-8E10-031BEDE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19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99"/>
                </a:solidFill>
                <a:latin typeface="Aptos"/>
                <a:ea typeface="Aptos"/>
                <a:cs typeface="Aptos"/>
              </a:rPr>
              <a:t>API keys remain server-side · Node/Express orchestrator · React/Vite client</a:t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4AFF41C-FDE6-4594-A94B-8EE3479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84655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86CBB1E-61E9-4DB5-8CA2-181FE3DF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0"/>
          </a:solidFill>
          <a:ln xmlns:a="http://schemas.openxmlformats.org/drawingml/2006/main" w="0">
            <a:solidFill>
              <a:srgbClr val="F4F6F0"/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D04D0DC-3EF9-45BE-8300-252AD56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9F305FB9-5EDA-4B09-B2B8-5CE2E9D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IMAGERY SELECTION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EDAD056-861C-4EA8-BC62-0B547112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“Freshest” is a ranking problem, not a timestamp label.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B76C0-DAC9-4C7A-A1BE-0E812824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DATE-FIRST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C3244-88D0-4459-89FC-86E0E7F4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C40A4-5143-4924-A44D-74491E23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860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62E9E-20E9-45BC-B504-BDAAB481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7436A-3B0B-4CC4-A227-3F9C71D7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95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probe all 5 sensors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6DAF5-2C4F-416A-9FD3-8940798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8FF"/>
          </a:solidFill>
          <a:ln xmlns:a="http://schemas.openxmlformats.org/drawingml/2006/main" w="0">
            <a:solidFill>
              <a:srgbClr val="76B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C78F4-5FD1-4660-93A5-C6875CD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718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0B6A1-04AA-4648-B943-92D0D9A0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−1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7F02E-27B5-43A8-B200-BC27FA9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81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probe all 5 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5784D-4F7F-4A2B-B296-62134B8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46E"/>
          </a:solidFill>
          <a:ln xmlns:a="http://schemas.openxmlformats.org/drawingml/2006/main" w="0">
            <a:solidFill>
              <a:srgbClr val="6874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1E60B-43F2-4FA2-AC19-0FB8884C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576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72175-D857-4139-8CFE-91DA3EA1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−2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2D95E-8FAD-4962-9916-F7C8191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67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only if no usable scene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FD722-B80E-4D6A-97FF-EBB44989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46E"/>
          </a:solidFill>
          <a:ln xmlns:a="http://schemas.openxmlformats.org/drawingml/2006/main" w="0">
            <a:solidFill>
              <a:srgbClr val="6874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04C19-1ED0-4BC6-9D87-47BEF465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−3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EC170-D8A8-4C18-B4C1-8FDF89E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final lookback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795AE-134D-4D4F-B86D-18CC2DB9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D1"/>
          </a:solidFill>
          <a:ln xmlns:a="http://schemas.openxmlformats.org/drawingml/2006/main" w="0">
            <a:solidFill>
              <a:srgbClr val="CFD7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2A8F5-665C-470F-BB14-7F54D69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SENSOR CANDIDATES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90937-A261-4B8F-900E-74F393E4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NOAA-21 / VIIRS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60D0A-D126-4A3E-B0F1-0707AA27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146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NOAA-20 / VIIRS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D5D03-72D4-44E6-A511-13FA2FC0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SUOMI NPP / VIIRS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B6CB7-506E-42D6-AC82-02E7816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289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AQUA / MODIS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C5F65-319C-48B4-8ACE-3472D953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433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9"/>
          </a:solidFill>
          <a:ln xmlns:a="http://schemas.openxmlformats.org/drawingml/2006/main" w="9525">
            <a:solidFill>
              <a:srgbClr val="142019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7FAF7"/>
                </a:solidFill>
                <a:latin typeface="Aptos Mono"/>
                <a:ea typeface="Aptos Mono"/>
                <a:cs typeface="Aptos Mono"/>
              </a:rPr>
              <a:t>TERRA / MODIS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7D90A-92AB-4261-ACFF-6489C61B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71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QUALITY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F81D8-4AA9-45CA-8CE8-3CD7BFE3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14850"/>
            <a:ext cx="3743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3"/>
          </a:solidFill>
          <a:ln xmlns:a="http://schemas.openxmlformats.org/drawingml/2006/main" w="0">
            <a:solidFill>
              <a:srgbClr val="DDF4E3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mean RGB σ + 8 × image entropy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50FA-E1A9-4AE3-ABBA-8341783A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816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Reject tiny, uniform, very dark, or low-entropy responses before choosing the highest-scoring scene on the newest usable date.</a:t>
            </a:r>
          </a:p>
        </p:txBody>
      </p:sp>
      <p:sp>
        <p:nvSpPr>
          <p:cNvPr id="3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BC4CE9A-AF62-4735-A3AB-B0FE6C2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Five NASA VIIRS/MODIS products · current UTC day checked first · maximum 3-day lookback</a:t>
            </a:r>
          </a:p>
        </p:txBody>
      </p:sp>
      <p:sp>
        <p:nvSpPr>
          <p:cNvPr id="3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1347E0C-1E58-4B6E-884B-FF2AA99E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93635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5FDC266-3E73-4C4B-BD17-65F3539E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0F"/>
          </a:solidFill>
          <a:ln xmlns:a="http://schemas.openxmlformats.org/drawingml/2006/main" w="0">
            <a:solidFill>
              <a:srgbClr val="07130F"/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E73CD7AC-C218-4243-B432-D0348B4B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72"/>
          </a:solidFill>
          <a:ln xmlns:a="http://schemas.openxmlformats.org/drawingml/2006/main" w="0">
            <a:solidFill>
              <a:srgbClr val="B9FF72"/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6E534C73-A4DF-4935-BB62-FECFCC44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rPr>
              <a:t>CASE STUDY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5CF2106-EE74-4766-B053-D414D37D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A cautious result is a successful result when evidence is weak.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57c0433bf4ed4"/>
          <a:srcRect xmlns:a="http://schemas.openxmlformats.org/drawingml/2006/main" l="0" t="15021" r="0" b="15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95500"/>
            <a:ext cx="6705600" cy="3752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B09CC-46CD-450A-B111-A7CFAB1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30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07130F"/>
                </a:solidFill>
                <a:latin typeface="Aptos Mono"/>
                <a:ea typeface="Aptos Mono"/>
                <a:cs typeface="Aptos Mono"/>
              </a:rPr>
              <a:t>EXACT MODEL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CEFE0-1AD2-401C-AF10-ECD3E81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rPr>
              <a:t>41%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11751-3835-4E38-A39D-DD8ECFAD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42887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7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7AE"/>
                </a:solidFill>
                <a:latin typeface="Aptos"/>
                <a:ea typeface="Aptos"/>
                <a:cs typeface="Aptos"/>
              </a:rPr>
              <a:t>evidence 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EEEDB-2C1F-4D06-9AFA-7FA19225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8"/>
          </a:solidFill>
          <a:ln xmlns:a="http://schemas.openxmlformats.org/drawingml/2006/main" w="0">
            <a:solidFill>
              <a:srgbClr val="2940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88314-6692-4CFF-86CC-23885BF2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6B868-5D53-4684-B77C-130A8E4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AF7"/>
                </a:solidFill>
                <a:latin typeface="Aptos"/>
                <a:ea typeface="Aptos"/>
                <a:cs typeface="Aptos"/>
              </a:rPr>
              <a:t>Terra / MODIS · June 4 · 1 day 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718D5-C8DA-423A-8B48-A633DDE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WEATHER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3265F-533D-463A-8A5F-C8E7FE7E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AF7"/>
                </a:solidFill>
                <a:latin typeface="Aptos"/>
                <a:ea typeface="Aptos"/>
                <a:cs typeface="Aptos"/>
              </a:rPr>
              <a:t>100% current cloud 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BA7F4-4E52-4F2B-B1B0-36DEC9ED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CF1C8-F312-4677-8661-E805BAF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AF7"/>
                </a:solidFill>
                <a:latin typeface="Aptos"/>
                <a:ea typeface="Aptos"/>
                <a:cs typeface="Aptos"/>
              </a:rPr>
              <a:t>No nearby corroborating 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7F396-755C-4678-89E5-0306F754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70CE3-7841-4884-A594-0232CA31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911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AF7"/>
                </a:solidFill>
                <a:latin typeface="Aptos"/>
                <a:ea typeface="Aptos"/>
                <a:cs typeface="Aptos"/>
              </a:rPr>
              <a:t>No clear signal; active fire not ruled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21085-2AAC-4315-96B9-44999DDC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007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8"/>
          </a:solidFill>
          <a:ln xmlns:a="http://schemas.openxmlformats.org/drawingml/2006/main" w="0">
            <a:solidFill>
              <a:srgbClr val="173128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UNCERTAINTY IS PART OF THE OUTPUT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D94E41B-7714-4926-9D92-17320624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19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99"/>
                </a:solidFill>
                <a:latin typeface="Aptos"/>
                <a:ea typeface="Aptos"/>
                <a:cs typeface="Aptos"/>
              </a:rPr>
              <a:t>Real run on June 5, 2026 · cloud obstruction correctly lowered confidence and constrained the claim</a:t>
            </a:r>
          </a:p>
        </p:txBody>
      </p:sp>
      <p:sp>
        <p:nvSpPr>
          <p:cNvPr id="2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F601144-9E4D-42B0-ABC8-907B0B44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04038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FA29450-9E5F-4081-BBB4-D9EB878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0"/>
          </a:solidFill>
          <a:ln xmlns:a="http://schemas.openxmlformats.org/drawingml/2006/main" w="0">
            <a:solidFill>
              <a:srgbClr val="F4F6F0"/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30D3FC31-071C-4F5A-82E0-FDD179EE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6D5FCBA-3AE1-4076-BDA8-0018EE5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EVALUATION &amp; SAFETY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24972A6-25E3-41C2-9CE8-1D7E7C9C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76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The prototype validates contracts; scientific accuracy is the next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ADA45-C0DD-4842-A98C-BD885A2C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724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9"/>
          </a:solidFill>
          <a:ln xmlns:a="http://schemas.openxmlformats.org/drawingml/2006/main" w="0">
            <a:solidFill>
              <a:srgbClr val="1420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F973C-BEE2-421F-A57D-0F5FB0C3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238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rPr>
              <a:t>9/9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AEBFF-7151-4BBF-9BFB-D8EA2E4A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238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7"/>
                </a:solidFill>
                <a:latin typeface="Aptos"/>
                <a:ea typeface="Aptos"/>
                <a:cs typeface="Aptos"/>
              </a:rPr>
              <a:t>unit tests passing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940FA-EC28-491F-9040-A5EBAE2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8"/>
          </a:solidFill>
          <a:ln xmlns:a="http://schemas.openxmlformats.org/drawingml/2006/main" w="0">
            <a:solidFill>
              <a:srgbClr val="173128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PRODUCTION BUILD PASSES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F6951-8B9F-447E-A908-188D5AF4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669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19"/>
                </a:solidFill>
                <a:latin typeface="Aptos"/>
                <a:ea typeface="Aptos"/>
                <a:cs typeface="Aptos"/>
              </a:rPr>
              <a:t>What is tested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52F08-5ABA-4C12-87CE-E64DBEC3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DFAAB-D510-4CDD-AD79-FC34C0E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7432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intent + location 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585E4-7BEB-496B-9ACF-1C96B82E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66C1D-44A9-4042-B3D4-E088549B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86125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geospatial distance + request bounds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CDFA3-C0D5-454F-9597-0DFAB23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0B580-CD53-4A18-8DC3-E336EE5E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290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imagery freshness + FIRMS parsing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DD8BA-DD60-45D9-BC8E-6DDC3AC4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AC760-B0BB-4FC2-80D2-A617D970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371975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truthful fallback + report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28868-4AED-40E4-BC87-F3B357FD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19"/>
                </a:solidFill>
                <a:latin typeface="Aptos"/>
                <a:ea typeface="Aptos"/>
                <a:cs typeface="Aptos"/>
              </a:rPr>
              <a:t>What remains to evaluate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662A5-8F2D-4A7B-A325-81E7FD0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A3195-65E6-4674-8C16-B38AB46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3190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unsupported visual-claim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009AF-C37D-402E-9A86-2E6F0CD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1EBD5-8205-48E2-AC28-88E3F92C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3190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location + intent accuracy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FF4DD-CC08-4E19-8EB0-D13D71D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C8B2A-D8F3-4138-97A7-B6CEBC1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90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provider latency and failure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88169-D412-45CB-B867-2A1806EB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83F35-A9A9-463F-A2C6-0B4E1A2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71975"/>
            <a:ext cx="3190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human usefulness + calibration ratings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425AA-C9BF-488D-9BD7-55CC18F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05400"/>
            <a:ext cx="721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3"/>
          </a:solidFill>
          <a:ln xmlns:a="http://schemas.openxmlformats.org/drawingml/2006/main" w="0">
            <a:solidFill>
              <a:srgbClr val="DDF4E3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PRIMARY SAFETY METRIC: UNSUPPORTED CLAIM RATE</a:t>
            </a:r>
          </a:p>
        </p:txBody>
      </p:sp>
      <p:sp>
        <p:nvSpPr>
          <p:cNvPr id="2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31C5960-F123-4EAF-8396-75C2CE9C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Course rubric: evaluation evidence, limitations, failure analysis, testing, and honest disclosure</a:t>
            </a:r>
          </a:p>
        </p:txBody>
      </p:sp>
      <p:sp>
        <p:nvSpPr>
          <p:cNvPr id="2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B66E6B2-D155-4DD0-A6B1-7BD0C8F1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62784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C4A8DC7-3E49-4B10-BD31-A6DF9B0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0"/>
          </a:solidFill>
          <a:ln xmlns:a="http://schemas.openxmlformats.org/drawingml/2006/main" w="0">
            <a:solidFill>
              <a:srgbClr val="F4F6F0"/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B87C835-36F6-42BC-A5BC-3371510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76C811FA-EF60-472C-8FCF-0A86F062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USE CASES &amp; IMPACT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A5DFF08-38B1-4262-B3C6-17DB8D14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57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The same evidence engine supports public-interest decisions across domains.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F8728-9FFC-4832-8AC6-849E05E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90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4738B-A06A-47C6-98AC-E84F7951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C76AB-3BAB-4FC1-AFD2-0BA7EFE1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97B4E-EEA8-40FB-973A-5236131B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Disaster screening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BB42C-402A-45F8-87E8-A719C78C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RESPONDERS · NGOS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F1509-1526-410B-A064-48675897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6F2FB-7AD3-4C96-9E09-AC8AE88F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19"/>
                </a:solidFill>
                <a:latin typeface="Aptos"/>
                <a:ea typeface="Aptos"/>
                <a:cs typeface="Aptos"/>
              </a:rPr>
              <a:t>“Are there active wildfires near Los Angeles?”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D9A7B-15B7-489D-982A-4AD0F77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Rapid regional context before authoritative emergency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036F2-1451-4B1E-BB22-C8E2F9C7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3390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C32BD-59FE-4823-BA0B-01699FA2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FF"/>
          </a:solidFill>
          <a:ln xmlns:a="http://schemas.openxmlformats.org/drawingml/2006/main" w="0">
            <a:solidFill>
              <a:srgbClr val="76B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2B129-103C-4CB1-97AD-5A477FD9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A4D74-756A-486D-BAC1-D71B6C64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Environmental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B27E5-52E8-4370-9382-AF69F825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766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SCIENTISTS · CONSERVATION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744FF-342C-4429-9984-399B97A4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576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FF"/>
          </a:solidFill>
          <a:ln xmlns:a="http://schemas.openxmlformats.org/drawingml/2006/main" w="0">
            <a:solidFill>
              <a:srgbClr val="76B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C3B47-3805-45C4-9360-502FF82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19"/>
                </a:solidFill>
                <a:latin typeface="Aptos"/>
                <a:ea typeface="Aptos"/>
                <a:cs typeface="Aptos"/>
              </a:rPr>
              <a:t>“What does forest cover near Manaus look like today?”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50C48-350F-4000-84C8-8FA0A1F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57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A sourced snapshot of vegetation, smoke, flood, or coastal conditions.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DB13B-E51D-450C-9A40-15EB004C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3390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CFD7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FA885-B860-40DD-9BCA-77D9F28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6D0DD-3B9E-4310-911D-1433983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2770C-35A2-40EA-813D-D956BB9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019"/>
                </a:solidFill>
                <a:latin typeface="Aptos Display"/>
                <a:ea typeface="Aptos Display"/>
                <a:cs typeface="Aptos Display"/>
              </a:rPr>
              <a:t>Public-interest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9D51D-55A9-44F3-95C9-9CC627F5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JOURNALISTS · POLICY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32678-A4AA-410A-A257-861D790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576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45B"/>
          </a:solidFill>
          <a:ln xmlns:a="http://schemas.openxmlformats.org/drawingml/2006/main" w="0">
            <a:solidFill>
              <a:srgbClr val="F1A4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144CE-C522-433B-99AC-7B1A7EA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19"/>
                </a:solidFill>
                <a:latin typeface="Aptos"/>
                <a:ea typeface="Aptos"/>
                <a:cs typeface="Aptos"/>
              </a:rPr>
              <a:t>“What evidence is available for this reported event?”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06FA9-0C67-4CF8-8B46-E351F28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57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Dated imagery, public data, provenance, and limitations in one record.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C6C9E-104E-4ACD-9C84-19CF16C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864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3"/>
          </a:solidFill>
          <a:ln xmlns:a="http://schemas.openxmlformats.org/drawingml/2006/main" w="0">
            <a:solidFill>
              <a:srgbClr val="DDF4E3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4201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42019"/>
                </a:solidFill>
                <a:latin typeface="Aptos Mono"/>
                <a:ea typeface="Aptos Mono"/>
                <a:cs typeface="Aptos Mono"/>
              </a:rPr>
              <a:t>REGIONAL SCREENING + RESEARCH — NOT A REPLACEMENT FOR LOCAL AUTHORITY</a:t>
            </a:r>
          </a:p>
        </p:txBody>
      </p:sp>
      <p:sp>
        <p:nvSpPr>
          <p:cNvPr id="3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745B359-1194-444F-A218-BFE1BA14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4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46E"/>
                </a:solidFill>
                <a:latin typeface="Aptos"/>
                <a:ea typeface="Aptos"/>
                <a:cs typeface="Aptos"/>
              </a:rPr>
              <a:t>Course video Q3: potential use cases, societal value, and how people could use the tool</a:t>
            </a:r>
          </a:p>
        </p:txBody>
      </p:sp>
      <p:sp>
        <p:nvSpPr>
          <p:cNvPr id="3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E9416F2-7E22-491E-BC40-BA2BC4D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8746E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74231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293A13B-3435-4400-8E6B-80C8D9C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0F"/>
          </a:solidFill>
          <a:ln xmlns:a="http://schemas.openxmlformats.org/drawingml/2006/main" w="0">
            <a:solidFill>
              <a:srgbClr val="07130F"/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EA73A42-8196-4655-A353-83501F8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72"/>
          </a:solidFill>
          <a:ln xmlns:a="http://schemas.openxmlformats.org/drawingml/2006/main" w="0">
            <a:solidFill>
              <a:srgbClr val="B9FF72"/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091D04C-DCD8-429D-96CE-30C1003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FF72"/>
                </a:solidFill>
                <a:latin typeface="Aptos Mono"/>
                <a:ea typeface="Aptos Mono"/>
                <a:cs typeface="Aptos Mono"/>
              </a:rPr>
              <a:t>WHAT COMES NEXT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0C7243E-4B42-4FD5-8885-5F96BDC8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62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The next leap is temporal change detection.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E3CB9-9D96-4C2C-B13E-5DCAEC8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From a single fresh scene → to before/after evidence → to operational monitoring.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E1950-3B50-40C9-9139-B83774E6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276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67D8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1896F-A2E5-4C5F-9A58-3C665D99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7D88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C5B51-6B29-45ED-A3BD-C992738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Better sensing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B4154-84E0-4A20-9F6F-463BCC9F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Sentinel-2 · Landsat · STAC catalogs · radar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7BAFC-BF94-4DE1-BA98-9E8111F7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7187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7D88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7D8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EDFD4-A32B-443C-A74A-9D019B4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276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76B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CB224-1493-49C8-9457-E77D7E8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6B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2F28A-6D6B-49F9-A4A0-EC86F339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Temporal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BB6B1-9FC4-49C6-BA80-2AA3B1DB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Baseline/latest scenes · NDVI · NBR · NDWI · change masks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88DCE-A8C0-456B-88BD-FFE079CD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6B8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6B8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5A1B7-71DC-4F80-BE85-50EDEF7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3276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F1A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ED68F-115A-4FA7-899A-95A62D91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A45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0CAF5-3215-4FB7-AAD3-39F52C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AF7"/>
                </a:solidFill>
                <a:latin typeface="Aptos Display"/>
                <a:ea typeface="Aptos Display"/>
                <a:cs typeface="Aptos Display"/>
              </a:rPr>
              <a:t>Operational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AD3EE-93B4-4FA3-A965-4D2B556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8AF"/>
                </a:solidFill>
                <a:latin typeface="Aptos"/>
                <a:ea typeface="Aptos"/>
                <a:cs typeface="Aptos"/>
              </a:rPr>
              <a:t>Streaming traces · caching · retries · scheduled monitors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5C3D0-6CB7-4595-9B54-5B64DB26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81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9FF72"/>
                </a:solidFill>
                <a:latin typeface="Aptos Display"/>
                <a:ea typeface="Aptos Display"/>
                <a:cs typeface="Aptos Display"/>
              </a:rPr>
              <a:t>One person built a small Earth-observation lab.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A0FCE-9027-487D-818A-02C3D88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61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887"/>
          </a:solidFill>
          <a:ln xmlns:a="http://schemas.openxmlformats.org/drawingml/2006/main" w="0">
            <a:solidFill>
              <a:srgbClr val="67D887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30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7130F"/>
                </a:solidFill>
                <a:latin typeface="Aptos Mono"/>
                <a:ea typeface="Aptos Mono"/>
                <a:cs typeface="Aptos Mono"/>
              </a:rPr>
              <a:t>LIVE DEMO: ARE THERE ACTIVE WILDFIRES NEAR LOS ANGELES?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0FAD5-2EBE-47CC-8FCF-0A015A92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472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EAE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EAEA6"/>
                </a:solidFill>
                <a:latin typeface="Aptos"/>
                <a:ea typeface="Aptos"/>
                <a:cs typeface="Aptos"/>
              </a:rPr>
              <a:t>AI disclosure: AI assisted development and presentation creation. Runtime models perform bounded planning, vision analysis, and report drafting; no model was trained or fine-tuned.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4F02C7D-84B2-404F-95E5-09DF9CBA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19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199"/>
                </a:solidFill>
                <a:latin typeface="Aptos"/>
                <a:ea typeface="Aptos"/>
                <a:cs typeface="Aptos"/>
              </a:rPr>
              <a:t>Sources: NASA GIBS, FIRMS, EONET · USGS · OpenStreetMap Nominatim · Open-Meteo · OpenAI</a:t>
            </a:r>
          </a:p>
        </p:txBody>
      </p:sp>
      <p:sp>
        <p:nvSpPr>
          <p:cNvPr id="2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D54033C-86EA-46BC-A5CF-B6497D59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1A199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9689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2026-06-05T06:48:27.4560000Z</dcterms:created>
  <dcterms:modified xsi:type="dcterms:W3CDTF">2026-06-05T06:48:27.4560000Z</dcterms:modified>
</coreProperties>
</file>